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12192000"/>
  <p:notesSz cx="6858000" cy="9144000"/>
  <p:embeddedFontLst>
    <p:embeddedFont>
      <p:font typeface="Play"/>
      <p:regular r:id="rId49"/>
      <p:bold r:id="rId50"/>
    </p:embeddedFont>
    <p:embeddedFont>
      <p:font typeface="Open Sans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jhpRz2oEBTndVNnx+JJOGwdb3A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067E66-716C-400E-8304-24B8AB908FDC}">
  <a:tblStyle styleId="{7F067E66-716C-400E-8304-24B8AB908FDC}" styleName="Table_0">
    <a:wholeTbl>
      <a:tcTxStyle b="off" i="off">
        <a:font>
          <a:latin typeface="Univers Condensed Light"/>
          <a:ea typeface="Univers Condensed Light"/>
          <a:cs typeface="Univers Condensed Ligh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Light-regular.fntdata"/><Relationship Id="rId50" Type="http://schemas.openxmlformats.org/officeDocument/2006/relationships/font" Target="fonts/Play-bold.fntdata"/><Relationship Id="rId53" Type="http://schemas.openxmlformats.org/officeDocument/2006/relationships/font" Target="fonts/OpenSansLight-italic.fntdata"/><Relationship Id="rId52" Type="http://schemas.openxmlformats.org/officeDocument/2006/relationships/font" Target="fonts/OpenSansLight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Open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">
  <p:cSld name="1_標題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" name="Google Shape;26;p45"/>
          <p:cNvSpPr/>
          <p:nvPr/>
        </p:nvSpPr>
        <p:spPr>
          <a:xfrm rot="10800000">
            <a:off x="-33556" y="-3643"/>
            <a:ext cx="4613230" cy="6861641"/>
          </a:xfrm>
          <a:custGeom>
            <a:rect b="b" l="l" r="r" t="t"/>
            <a:pathLst>
              <a:path extrusionOk="0" h="6861641" w="4613230">
                <a:moveTo>
                  <a:pt x="4613230" y="6861641"/>
                </a:moveTo>
                <a:lnTo>
                  <a:pt x="0" y="6861641"/>
                </a:lnTo>
                <a:lnTo>
                  <a:pt x="1788950" y="0"/>
                </a:lnTo>
                <a:lnTo>
                  <a:pt x="4613230" y="0"/>
                </a:lnTo>
                <a:lnTo>
                  <a:pt x="4613230" y="686164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" name="Google Shape;27;p45"/>
          <p:cNvSpPr/>
          <p:nvPr/>
        </p:nvSpPr>
        <p:spPr>
          <a:xfrm rot="10800000">
            <a:off x="-33556" y="-14280"/>
            <a:ext cx="4615080" cy="10637"/>
          </a:xfrm>
          <a:custGeom>
            <a:rect b="b" l="l" r="r" t="t"/>
            <a:pathLst>
              <a:path extrusionOk="0" h="10637" w="4615080">
                <a:moveTo>
                  <a:pt x="4615080" y="10637"/>
                </a:moveTo>
                <a:lnTo>
                  <a:pt x="0" y="7095"/>
                </a:lnTo>
                <a:lnTo>
                  <a:pt x="1850" y="0"/>
                </a:lnTo>
                <a:lnTo>
                  <a:pt x="4615080" y="0"/>
                </a:lnTo>
                <a:lnTo>
                  <a:pt x="4615080" y="1063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28" name="Google Shape;28;p45"/>
          <p:cNvCxnSpPr/>
          <p:nvPr/>
        </p:nvCxnSpPr>
        <p:spPr>
          <a:xfrm flipH="1">
            <a:off x="-33558" y="0"/>
            <a:ext cx="6705601" cy="809623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45"/>
          <p:cNvCxnSpPr/>
          <p:nvPr/>
        </p:nvCxnSpPr>
        <p:spPr>
          <a:xfrm flipH="1" rot="10800000">
            <a:off x="3514060" y="1"/>
            <a:ext cx="510363" cy="6857998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" name="Google Shape;30;p45"/>
          <p:cNvCxnSpPr/>
          <p:nvPr/>
        </p:nvCxnSpPr>
        <p:spPr>
          <a:xfrm flipH="1" rot="10800000">
            <a:off x="11602477" y="365123"/>
            <a:ext cx="589522" cy="6492877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" name="Google Shape;31;p45"/>
          <p:cNvCxnSpPr/>
          <p:nvPr/>
        </p:nvCxnSpPr>
        <p:spPr>
          <a:xfrm rot="10800000">
            <a:off x="9340702" y="-10737"/>
            <a:ext cx="2851297" cy="1680049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" name="Google Shape;32;p45"/>
          <p:cNvCxnSpPr/>
          <p:nvPr/>
        </p:nvCxnSpPr>
        <p:spPr>
          <a:xfrm rot="10800000">
            <a:off x="-33557" y="6045958"/>
            <a:ext cx="6876857" cy="812042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" name="Google Shape;33;p45"/>
          <p:cNvSpPr/>
          <p:nvPr>
            <p:ph idx="2" type="pic"/>
          </p:nvPr>
        </p:nvSpPr>
        <p:spPr>
          <a:xfrm>
            <a:off x="2623279" y="0"/>
            <a:ext cx="956872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Google Shape;34;p45"/>
          <p:cNvSpPr txBox="1"/>
          <p:nvPr>
            <p:ph type="title"/>
          </p:nvPr>
        </p:nvSpPr>
        <p:spPr>
          <a:xfrm>
            <a:off x="520697" y="1040001"/>
            <a:ext cx="3338625" cy="3150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" type="body"/>
          </p:nvPr>
        </p:nvSpPr>
        <p:spPr>
          <a:xfrm>
            <a:off x="490538" y="4240213"/>
            <a:ext cx="3497262" cy="180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議程">
  <p:cSld name="2_議程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8" name="Google Shape;38;p46"/>
          <p:cNvSpPr/>
          <p:nvPr/>
        </p:nvSpPr>
        <p:spPr>
          <a:xfrm rot="10800000">
            <a:off x="0" y="-5979"/>
            <a:ext cx="5111086" cy="6932218"/>
          </a:xfrm>
          <a:custGeom>
            <a:rect b="b" l="l" r="r" t="t"/>
            <a:pathLst>
              <a:path extrusionOk="0" h="6857998" w="6699211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9" name="Google Shape;39;p46"/>
          <p:cNvSpPr txBox="1"/>
          <p:nvPr>
            <p:ph type="title"/>
          </p:nvPr>
        </p:nvSpPr>
        <p:spPr>
          <a:xfrm>
            <a:off x="680485" y="675167"/>
            <a:ext cx="3761862" cy="3055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" type="body"/>
          </p:nvPr>
        </p:nvSpPr>
        <p:spPr>
          <a:xfrm>
            <a:off x="5167424" y="533400"/>
            <a:ext cx="3794512" cy="5797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2" name="Google Shape;42;p46"/>
          <p:cNvCxnSpPr>
            <a:stCxn id="37" idx="2"/>
          </p:cNvCxnSpPr>
          <p:nvPr/>
        </p:nvCxnSpPr>
        <p:spPr>
          <a:xfrm rot="10800000">
            <a:off x="0" y="5329500"/>
            <a:ext cx="6096000" cy="152850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46"/>
          <p:cNvSpPr/>
          <p:nvPr>
            <p:ph idx="2" type="pic"/>
          </p:nvPr>
        </p:nvSpPr>
        <p:spPr>
          <a:xfrm>
            <a:off x="9531096" y="0"/>
            <a:ext cx="2660904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Google Shape;44;p46"/>
          <p:cNvSpPr/>
          <p:nvPr>
            <p:ph idx="3" type="pic"/>
          </p:nvPr>
        </p:nvSpPr>
        <p:spPr>
          <a:xfrm>
            <a:off x="9531096" y="3383280"/>
            <a:ext cx="2660904" cy="3474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5" name="Google Shape;45;p46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分節符號">
  <p:cSld name="4_分節符號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idx="1" type="subTitle"/>
          </p:nvPr>
        </p:nvSpPr>
        <p:spPr>
          <a:xfrm>
            <a:off x="967750" y="975816"/>
            <a:ext cx="2979897" cy="12643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7"/>
          <p:cNvSpPr/>
          <p:nvPr>
            <p:ph idx="2" type="pic"/>
          </p:nvPr>
        </p:nvSpPr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" name="Google Shape;50;p47"/>
          <p:cNvSpPr/>
          <p:nvPr>
            <p:ph idx="3" type="pic"/>
          </p:nvPr>
        </p:nvSpPr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sp>
      <p:sp>
        <p:nvSpPr>
          <p:cNvPr id="51" name="Google Shape;51;p47"/>
          <p:cNvSpPr/>
          <p:nvPr>
            <p:ph idx="4" type="pic"/>
          </p:nvPr>
        </p:nvSpPr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2" name="Google Shape;52;p47"/>
          <p:cNvSpPr txBox="1"/>
          <p:nvPr>
            <p:ph type="title"/>
          </p:nvPr>
        </p:nvSpPr>
        <p:spPr>
          <a:xfrm>
            <a:off x="969264" y="2679192"/>
            <a:ext cx="4946904" cy="3273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和內容圖表">
  <p:cSld name="6_標題和內容圖表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" type="body"/>
          </p:nvPr>
        </p:nvSpPr>
        <p:spPr>
          <a:xfrm>
            <a:off x="1143000" y="2009775"/>
            <a:ext cx="9906000" cy="402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49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結語">
  <p:cSld name="13_結語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/>
          <p:nvPr>
            <p:ph type="title"/>
          </p:nvPr>
        </p:nvSpPr>
        <p:spPr>
          <a:xfrm>
            <a:off x="5146159" y="685800"/>
            <a:ext cx="6238688" cy="13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/>
          <p:nvPr>
            <p:ph idx="2" type="pic"/>
          </p:nvPr>
        </p:nvSpPr>
        <p:spPr>
          <a:xfrm>
            <a:off x="0" y="-7444"/>
            <a:ext cx="4966447" cy="68463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8" name="Google Shape;68;p5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" type="body"/>
          </p:nvPr>
        </p:nvSpPr>
        <p:spPr>
          <a:xfrm>
            <a:off x="5146158" y="2301949"/>
            <a:ext cx="6238687" cy="402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72" name="Google Shape;72;p50"/>
          <p:cNvCxnSpPr/>
          <p:nvPr/>
        </p:nvCxnSpPr>
        <p:spPr>
          <a:xfrm flipH="1">
            <a:off x="3627455" y="-19394"/>
            <a:ext cx="806149" cy="6877392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簡介">
  <p:cSld name="3_簡介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5" name="Google Shape;75;p51"/>
          <p:cNvSpPr txBox="1"/>
          <p:nvPr>
            <p:ph type="title"/>
          </p:nvPr>
        </p:nvSpPr>
        <p:spPr>
          <a:xfrm>
            <a:off x="5693734" y="557304"/>
            <a:ext cx="5355265" cy="162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6" name="Google Shape;76;p51"/>
          <p:cNvCxnSpPr/>
          <p:nvPr/>
        </p:nvCxnSpPr>
        <p:spPr>
          <a:xfrm flipH="1" rot="10800000">
            <a:off x="4576137" y="0"/>
            <a:ext cx="668374" cy="685800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" name="Google Shape;77;p51"/>
          <p:cNvSpPr/>
          <p:nvPr>
            <p:ph idx="2" type="pic"/>
          </p:nvPr>
        </p:nvSpPr>
        <p:spPr>
          <a:xfrm>
            <a:off x="1" y="0"/>
            <a:ext cx="4742121" cy="34343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" name="Google Shape;78;p51"/>
          <p:cNvSpPr/>
          <p:nvPr>
            <p:ph idx="3" type="pic"/>
          </p:nvPr>
        </p:nvSpPr>
        <p:spPr>
          <a:xfrm>
            <a:off x="-5" y="3432620"/>
            <a:ext cx="5178056" cy="34253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sp>
      <p:sp>
        <p:nvSpPr>
          <p:cNvPr id="79" name="Google Shape;79;p51"/>
          <p:cNvSpPr txBox="1"/>
          <p:nvPr>
            <p:ph idx="1" type="body"/>
          </p:nvPr>
        </p:nvSpPr>
        <p:spPr>
          <a:xfrm>
            <a:off x="5693734" y="2183035"/>
            <a:ext cx="5355266" cy="4121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1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與內容">
  <p:cSld name="5_標題與內容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2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1" type="body"/>
          </p:nvPr>
        </p:nvSpPr>
        <p:spPr>
          <a:xfrm>
            <a:off x="1143000" y="2009775"/>
            <a:ext cx="9906000" cy="2649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引述">
  <p:cSld name="7_引述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3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3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p53"/>
          <p:cNvSpPr/>
          <p:nvPr/>
        </p:nvSpPr>
        <p:spPr>
          <a:xfrm rot="10800000">
            <a:off x="0" y="-5979"/>
            <a:ext cx="5111086" cy="6877626"/>
          </a:xfrm>
          <a:custGeom>
            <a:rect b="b" l="l" r="r" t="t"/>
            <a:pathLst>
              <a:path extrusionOk="0" h="6803990" w="6699211">
                <a:moveTo>
                  <a:pt x="2702995" y="2131"/>
                </a:moveTo>
                <a:lnTo>
                  <a:pt x="6699211" y="0"/>
                </a:lnTo>
                <a:lnTo>
                  <a:pt x="6699211" y="6803990"/>
                </a:lnTo>
                <a:lnTo>
                  <a:pt x="0" y="6790342"/>
                </a:lnTo>
                <a:lnTo>
                  <a:pt x="2702995" y="21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4" name="Google Shape;94;p53"/>
          <p:cNvSpPr txBox="1"/>
          <p:nvPr>
            <p:ph type="title"/>
          </p:nvPr>
        </p:nvSpPr>
        <p:spPr>
          <a:xfrm>
            <a:off x="716280" y="680485"/>
            <a:ext cx="3393440" cy="2748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5" name="Google Shape;95;p53"/>
          <p:cNvCxnSpPr/>
          <p:nvPr/>
        </p:nvCxnSpPr>
        <p:spPr>
          <a:xfrm rot="10800000">
            <a:off x="0" y="5329451"/>
            <a:ext cx="6096000" cy="1528549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53"/>
          <p:cNvSpPr txBox="1"/>
          <p:nvPr>
            <p:ph idx="1" type="body"/>
          </p:nvPr>
        </p:nvSpPr>
        <p:spPr>
          <a:xfrm>
            <a:off x="5175678" y="533399"/>
            <a:ext cx="3678762" cy="577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53"/>
          <p:cNvSpPr/>
          <p:nvPr>
            <p:ph idx="2" type="pic"/>
          </p:nvPr>
        </p:nvSpPr>
        <p:spPr>
          <a:xfrm>
            <a:off x="9531096" y="0"/>
            <a:ext cx="2660904" cy="2322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8" name="Google Shape;98;p53"/>
          <p:cNvSpPr/>
          <p:nvPr>
            <p:ph idx="3" type="pic"/>
          </p:nvPr>
        </p:nvSpPr>
        <p:spPr>
          <a:xfrm>
            <a:off x="9531096" y="2324100"/>
            <a:ext cx="2660904" cy="2322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9" name="Google Shape;99;p53"/>
          <p:cNvSpPr/>
          <p:nvPr>
            <p:ph idx="4" type="pic"/>
          </p:nvPr>
        </p:nvSpPr>
        <p:spPr>
          <a:xfrm>
            <a:off x="9531096" y="4535424"/>
            <a:ext cx="2660904" cy="2322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小組">
  <p:cSld name="8_小組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/>
          <p:nvPr>
            <p:ph idx="2" type="pic"/>
          </p:nvPr>
        </p:nvSpPr>
        <p:spPr>
          <a:xfrm>
            <a:off x="1143000" y="2350008"/>
            <a:ext cx="1965960" cy="1801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3" name="Google Shape;103;p54"/>
          <p:cNvSpPr txBox="1"/>
          <p:nvPr>
            <p:ph idx="1" type="body"/>
          </p:nvPr>
        </p:nvSpPr>
        <p:spPr>
          <a:xfrm>
            <a:off x="1145421" y="4319521"/>
            <a:ext cx="19632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2000">
                <a:solidFill>
                  <a:srgbClr val="262626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54"/>
          <p:cNvSpPr txBox="1"/>
          <p:nvPr>
            <p:ph idx="3" type="body"/>
          </p:nvPr>
        </p:nvSpPr>
        <p:spPr>
          <a:xfrm>
            <a:off x="1143000" y="4761768"/>
            <a:ext cx="1963236" cy="74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2000">
                <a:solidFill>
                  <a:srgbClr val="7F7F7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4"/>
          <p:cNvSpPr/>
          <p:nvPr>
            <p:ph idx="4" type="pic"/>
          </p:nvPr>
        </p:nvSpPr>
        <p:spPr>
          <a:xfrm>
            <a:off x="3784636" y="2350008"/>
            <a:ext cx="1965960" cy="1801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6" name="Google Shape;106;p54"/>
          <p:cNvSpPr txBox="1"/>
          <p:nvPr>
            <p:ph idx="5" type="body"/>
          </p:nvPr>
        </p:nvSpPr>
        <p:spPr>
          <a:xfrm>
            <a:off x="3789781" y="4319520"/>
            <a:ext cx="19632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2000">
                <a:solidFill>
                  <a:srgbClr val="262626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54"/>
          <p:cNvSpPr txBox="1"/>
          <p:nvPr>
            <p:ph idx="6" type="body"/>
          </p:nvPr>
        </p:nvSpPr>
        <p:spPr>
          <a:xfrm>
            <a:off x="3787360" y="4761767"/>
            <a:ext cx="1963236" cy="74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2000">
                <a:solidFill>
                  <a:srgbClr val="7F7F7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54"/>
          <p:cNvSpPr/>
          <p:nvPr>
            <p:ph idx="7" type="pic"/>
          </p:nvPr>
        </p:nvSpPr>
        <p:spPr>
          <a:xfrm>
            <a:off x="6437376" y="2350008"/>
            <a:ext cx="1965960" cy="1801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9" name="Google Shape;109;p54"/>
          <p:cNvSpPr txBox="1"/>
          <p:nvPr>
            <p:ph idx="8" type="body"/>
          </p:nvPr>
        </p:nvSpPr>
        <p:spPr>
          <a:xfrm>
            <a:off x="6441406" y="4319520"/>
            <a:ext cx="19632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2000">
                <a:solidFill>
                  <a:srgbClr val="262626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54"/>
          <p:cNvSpPr txBox="1"/>
          <p:nvPr>
            <p:ph idx="9" type="body"/>
          </p:nvPr>
        </p:nvSpPr>
        <p:spPr>
          <a:xfrm>
            <a:off x="6438985" y="4761767"/>
            <a:ext cx="1963236" cy="74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2000">
                <a:solidFill>
                  <a:srgbClr val="7F7F7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4"/>
          <p:cNvSpPr/>
          <p:nvPr>
            <p:ph idx="13" type="pic"/>
          </p:nvPr>
        </p:nvSpPr>
        <p:spPr>
          <a:xfrm>
            <a:off x="9089136" y="2350008"/>
            <a:ext cx="1965960" cy="1801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2" name="Google Shape;112;p54"/>
          <p:cNvSpPr txBox="1"/>
          <p:nvPr>
            <p:ph idx="14" type="body"/>
          </p:nvPr>
        </p:nvSpPr>
        <p:spPr>
          <a:xfrm>
            <a:off x="9090610" y="4319520"/>
            <a:ext cx="19632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2000">
                <a:solidFill>
                  <a:srgbClr val="262626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54"/>
          <p:cNvSpPr txBox="1"/>
          <p:nvPr>
            <p:ph idx="15" type="body"/>
          </p:nvPr>
        </p:nvSpPr>
        <p:spPr>
          <a:xfrm>
            <a:off x="9088189" y="4761767"/>
            <a:ext cx="1963236" cy="74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2000">
                <a:solidFill>
                  <a:srgbClr val="7F7F7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54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4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和內容時間表">
  <p:cSld name="7_標題和內容時間表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5"/>
          <p:cNvSpPr txBox="1"/>
          <p:nvPr>
            <p:ph idx="1" type="body"/>
          </p:nvPr>
        </p:nvSpPr>
        <p:spPr>
          <a:xfrm>
            <a:off x="838200" y="1825625"/>
            <a:ext cx="1069281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55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內容 2 欄位 (比較投影片)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6"/>
          <p:cNvSpPr txBox="1"/>
          <p:nvPr>
            <p:ph idx="1" type="body"/>
          </p:nvPr>
        </p:nvSpPr>
        <p:spPr>
          <a:xfrm>
            <a:off x="839788" y="1734325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  <a:defRPr b="1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56"/>
          <p:cNvSpPr txBox="1"/>
          <p:nvPr>
            <p:ph idx="2" type="body"/>
          </p:nvPr>
        </p:nvSpPr>
        <p:spPr>
          <a:xfrm>
            <a:off x="839788" y="2558237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0988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4pPr>
            <a:lvl5pPr indent="-30987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56"/>
          <p:cNvSpPr txBox="1"/>
          <p:nvPr>
            <p:ph idx="3" type="body"/>
          </p:nvPr>
        </p:nvSpPr>
        <p:spPr>
          <a:xfrm>
            <a:off x="6172200" y="173432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  <a:defRPr b="1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56"/>
          <p:cNvSpPr txBox="1"/>
          <p:nvPr>
            <p:ph idx="4" type="body"/>
          </p:nvPr>
        </p:nvSpPr>
        <p:spPr>
          <a:xfrm>
            <a:off x="6172200" y="2558237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0988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4pPr>
            <a:lvl5pPr indent="-30987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56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6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內容 3 欄位">
  <p:cSld name="11_內容 3 欄位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7"/>
          <p:cNvSpPr txBox="1"/>
          <p:nvPr>
            <p:ph idx="1" type="body"/>
          </p:nvPr>
        </p:nvSpPr>
        <p:spPr>
          <a:xfrm>
            <a:off x="839788" y="1734325"/>
            <a:ext cx="3200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p57"/>
          <p:cNvSpPr txBox="1"/>
          <p:nvPr>
            <p:ph idx="2" type="body"/>
          </p:nvPr>
        </p:nvSpPr>
        <p:spPr>
          <a:xfrm>
            <a:off x="839788" y="2558237"/>
            <a:ext cx="32004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57"/>
          <p:cNvSpPr txBox="1"/>
          <p:nvPr>
            <p:ph idx="3" type="body"/>
          </p:nvPr>
        </p:nvSpPr>
        <p:spPr>
          <a:xfrm>
            <a:off x="4495800" y="1734325"/>
            <a:ext cx="3200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p57"/>
          <p:cNvSpPr txBox="1"/>
          <p:nvPr>
            <p:ph idx="4" type="body"/>
          </p:nvPr>
        </p:nvSpPr>
        <p:spPr>
          <a:xfrm>
            <a:off x="4495800" y="2558237"/>
            <a:ext cx="32004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57"/>
          <p:cNvSpPr txBox="1"/>
          <p:nvPr>
            <p:ph idx="5" type="body"/>
          </p:nvPr>
        </p:nvSpPr>
        <p:spPr>
          <a:xfrm>
            <a:off x="8151812" y="1734325"/>
            <a:ext cx="3200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57"/>
          <p:cNvSpPr txBox="1"/>
          <p:nvPr>
            <p:ph idx="6" type="body"/>
          </p:nvPr>
        </p:nvSpPr>
        <p:spPr>
          <a:xfrm>
            <a:off x="8151812" y="2558237"/>
            <a:ext cx="32004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57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7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摘要">
  <p:cSld name="12_摘要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1143001" y="533400"/>
            <a:ext cx="5496636" cy="1685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1143001" y="2229347"/>
            <a:ext cx="5496636" cy="3821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58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8"/>
          <p:cNvSpPr/>
          <p:nvPr>
            <p:ph idx="2" type="pic"/>
          </p:nvPr>
        </p:nvSpPr>
        <p:spPr>
          <a:xfrm>
            <a:off x="7186070" y="0"/>
            <a:ext cx="2463897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8" name="Google Shape;148;p58"/>
          <p:cNvSpPr/>
          <p:nvPr>
            <p:ph idx="3" type="pic"/>
          </p:nvPr>
        </p:nvSpPr>
        <p:spPr>
          <a:xfrm>
            <a:off x="9649155" y="0"/>
            <a:ext cx="2539797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9" name="Google Shape;149;p58"/>
          <p:cNvSpPr/>
          <p:nvPr>
            <p:ph idx="4" type="pic"/>
          </p:nvPr>
        </p:nvSpPr>
        <p:spPr>
          <a:xfrm>
            <a:off x="7186070" y="3383280"/>
            <a:ext cx="2463897" cy="3474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0" name="Google Shape;150;p58"/>
          <p:cNvSpPr/>
          <p:nvPr>
            <p:ph idx="5" type="pic"/>
          </p:nvPr>
        </p:nvSpPr>
        <p:spPr>
          <a:xfrm>
            <a:off x="9649155" y="3383280"/>
            <a:ext cx="2539797" cy="3474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1" name="Google Shape;151;p58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空白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9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9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6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0" name="Google Shape;160;p60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6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6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1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1"/>
          <p:cNvSpPr txBox="1"/>
          <p:nvPr>
            <p:ph idx="1" type="body"/>
          </p:nvPr>
        </p:nvSpPr>
        <p:spPr>
          <a:xfrm>
            <a:off x="838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61"/>
          <p:cNvSpPr txBox="1"/>
          <p:nvPr>
            <p:ph idx="2" type="body"/>
          </p:nvPr>
        </p:nvSpPr>
        <p:spPr>
          <a:xfrm>
            <a:off x="6172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61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6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2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2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2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3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3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空白">
  <p:cSld name="1_空白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1" name="Google Shape;181;p64"/>
          <p:cNvSpPr txBox="1"/>
          <p:nvPr>
            <p:ph type="ctrTitle"/>
          </p:nvPr>
        </p:nvSpPr>
        <p:spPr>
          <a:xfrm>
            <a:off x="5083790" y="1064715"/>
            <a:ext cx="6153912" cy="3922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4"/>
          <p:cNvSpPr txBox="1"/>
          <p:nvPr>
            <p:ph idx="1" type="subTitle"/>
          </p:nvPr>
        </p:nvSpPr>
        <p:spPr>
          <a:xfrm>
            <a:off x="5083790" y="5033339"/>
            <a:ext cx="6157951" cy="943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3" name="Google Shape;183;p64"/>
          <p:cNvCxnSpPr/>
          <p:nvPr/>
        </p:nvCxnSpPr>
        <p:spPr>
          <a:xfrm flipH="1">
            <a:off x="3418764" y="0"/>
            <a:ext cx="815637" cy="6857348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64"/>
          <p:cNvCxnSpPr/>
          <p:nvPr/>
        </p:nvCxnSpPr>
        <p:spPr>
          <a:xfrm>
            <a:off x="0" y="5468380"/>
            <a:ext cx="6096000" cy="1389619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64"/>
          <p:cNvSpPr/>
          <p:nvPr>
            <p:ph idx="2" type="pic"/>
          </p:nvPr>
        </p:nvSpPr>
        <p:spPr>
          <a:xfrm>
            <a:off x="16822" y="0"/>
            <a:ext cx="4811317" cy="6857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6" name="Google Shape;186;p64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4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6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Char char="•"/>
              <a:defRPr sz="3200"/>
            </a:lvl1pPr>
            <a:lvl2pPr indent="-3708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240"/>
              <a:buChar char="•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2" name="Google Shape;192;p6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3" name="Google Shape;193;p6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6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66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6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44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" name="Google Shape;11;p44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44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" name="Google Shape;13;p44"/>
          <p:cNvCxnSpPr/>
          <p:nvPr/>
        </p:nvCxnSpPr>
        <p:spPr>
          <a:xfrm flipH="1">
            <a:off x="8462964" y="5848350"/>
            <a:ext cx="3729036" cy="100965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44"/>
          <p:cNvCxnSpPr/>
          <p:nvPr/>
        </p:nvCxnSpPr>
        <p:spPr>
          <a:xfrm flipH="1">
            <a:off x="11543158" y="1647825"/>
            <a:ext cx="648842" cy="52101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44"/>
          <p:cNvCxnSpPr/>
          <p:nvPr/>
        </p:nvCxnSpPr>
        <p:spPr>
          <a:xfrm rot="10800000">
            <a:off x="10781554" y="0"/>
            <a:ext cx="1410446" cy="425834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44"/>
          <p:cNvCxnSpPr/>
          <p:nvPr/>
        </p:nvCxnSpPr>
        <p:spPr>
          <a:xfrm rot="10800000">
            <a:off x="6529388" y="-4763"/>
            <a:ext cx="5662612" cy="9319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7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" name="Google Shape;17;p44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b="0" i="1" sz="3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4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988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9879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3.jp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3.jp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tiobe.com/tiobe-index/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3.jpg"/><Relationship Id="rId5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python.org/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ntigravity.google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23.jpg"/><Relationship Id="rId5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23.jpg"/><Relationship Id="rId5" Type="http://schemas.openxmlformats.org/officeDocument/2006/relationships/image" Target="../media/image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城市中建築物的低角度視野" id="208" name="Google Shape;208;p1"/>
          <p:cNvPicPr preferRelativeResize="0"/>
          <p:nvPr>
            <p:ph idx="2" type="pic"/>
          </p:nvPr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2623279" y="0"/>
            <a:ext cx="956872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09" name="Google Shape;209;p1"/>
          <p:cNvSpPr txBox="1"/>
          <p:nvPr>
            <p:ph type="title"/>
          </p:nvPr>
        </p:nvSpPr>
        <p:spPr>
          <a:xfrm>
            <a:off x="141493" y="1042707"/>
            <a:ext cx="4195352" cy="3150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icrosoft JhengHei"/>
              <a:buNone/>
            </a:pP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程式設計概論</a:t>
            </a:r>
            <a:b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001</a:t>
            </a:r>
            <a:endParaRPr b="1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0" name="Google Shape;210;p1"/>
          <p:cNvSpPr txBox="1"/>
          <p:nvPr>
            <p:ph idx="1" type="body"/>
          </p:nvPr>
        </p:nvSpPr>
        <p:spPr>
          <a:xfrm>
            <a:off x="141493" y="4240213"/>
            <a:ext cx="3846307" cy="180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rPr b="1" lang="zh-TW">
                <a:latin typeface="Microsoft JhengHei"/>
                <a:ea typeface="Microsoft JhengHei"/>
                <a:cs typeface="Microsoft JhengHei"/>
                <a:sym typeface="Microsoft JhengHei"/>
              </a:rPr>
              <a:t>陳信宏(阿信老師)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b="1" lang="zh-TW" sz="2000">
                <a:latin typeface="Microsoft JhengHei"/>
                <a:ea typeface="Microsoft JhengHei"/>
                <a:cs typeface="Microsoft JhengHei"/>
                <a:sym typeface="Microsoft JhengHei"/>
              </a:rPr>
              <a:t>eosinchen@gmail.com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11" name="Google Shape;211;p1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2758190" y="112426"/>
            <a:ext cx="9346367" cy="6648138"/>
          </a:xfrm>
          <a:custGeom>
            <a:rect b="b" l="l" r="r" t="t"/>
            <a:pathLst>
              <a:path extrusionOk="0" h="6858000" w="9568721">
                <a:moveTo>
                  <a:pt x="1955447" y="0"/>
                </a:moveTo>
                <a:lnTo>
                  <a:pt x="9568721" y="0"/>
                </a:lnTo>
                <a:lnTo>
                  <a:pt x="9568721" y="6858000"/>
                </a:lnTo>
                <a:lnTo>
                  <a:pt x="0" y="6858000"/>
                </a:lnTo>
                <a:lnTo>
                  <a:pt x="0" y="6857998"/>
                </a:lnTo>
                <a:lnTo>
                  <a:pt x="167446" y="6857998"/>
                </a:lnTo>
                <a:close/>
              </a:path>
            </a:pathLst>
          </a:custGeom>
          <a:solidFill>
            <a:schemeClr val="accent2">
              <a:alpha val="50196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"/>
          <p:cNvSpPr txBox="1"/>
          <p:nvPr>
            <p:ph type="title"/>
          </p:nvPr>
        </p:nvSpPr>
        <p:spPr>
          <a:xfrm>
            <a:off x="680485" y="675167"/>
            <a:ext cx="3761862" cy="790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icrosoft JhengHei"/>
              <a:buNone/>
            </a:pPr>
            <a:r>
              <a:rPr b="1" i="0" lang="zh-TW" sz="4800">
                <a:latin typeface="Microsoft JhengHei"/>
                <a:ea typeface="Microsoft JhengHei"/>
                <a:cs typeface="Microsoft JhengHei"/>
                <a:sym typeface="Microsoft JhengHei"/>
              </a:rPr>
              <a:t>課程大綱	</a:t>
            </a:r>
            <a:endParaRPr/>
          </a:p>
        </p:txBody>
      </p:sp>
      <p:sp>
        <p:nvSpPr>
          <p:cNvPr id="217" name="Google Shape;217;p2"/>
          <p:cNvSpPr txBox="1"/>
          <p:nvPr>
            <p:ph idx="1" type="body"/>
          </p:nvPr>
        </p:nvSpPr>
        <p:spPr>
          <a:xfrm>
            <a:off x="782877" y="1465545"/>
            <a:ext cx="8179059" cy="471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Font typeface="Arial"/>
              <a:buChar char="•"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上課方式 與 結訓產出 說明</a:t>
            </a:r>
            <a:endParaRPr b="1"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Font typeface="Arial"/>
              <a:buChar char="•"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Python 語言特性與功能</a:t>
            </a:r>
            <a:endParaRPr b="1"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Font typeface="Arial"/>
              <a:buChar char="•"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安裝 Python 開發工具與 AI 輔助功能</a:t>
            </a:r>
            <a:endParaRPr b="1"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Font typeface="Arial"/>
              <a:buChar char="•"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建立第一個 Python 程式</a:t>
            </a:r>
            <a:endParaRPr b="1"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Font typeface="Arial"/>
              <a:buChar char="•"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補充：從 運算思維 到 程式設計</a:t>
            </a:r>
            <a:endParaRPr b="1"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水上的城市建築物景色" id="218" name="Google Shape;218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096" y="0"/>
            <a:ext cx="2660904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descr="有光源的背景圖形" id="219" name="Google Shape;219;p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1096" y="3383280"/>
            <a:ext cx="2660904" cy="3474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20" name="Google Shape;220;p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"/>
          <p:cNvPicPr preferRelativeResize="0"/>
          <p:nvPr>
            <p:ph idx="2" type="pic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226" name="Google Shape;226;p3"/>
          <p:cNvPicPr preferRelativeResize="0"/>
          <p:nvPr>
            <p:ph idx="3" type="pic"/>
          </p:nvPr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pic>
      <p:pic>
        <p:nvPicPr>
          <p:cNvPr id="227" name="Google Shape;227;p3"/>
          <p:cNvPicPr preferRelativeResize="0"/>
          <p:nvPr>
            <p:ph idx="4" type="pic"/>
          </p:nvPr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28" name="Google Shape;228;p3"/>
          <p:cNvSpPr txBox="1"/>
          <p:nvPr>
            <p:ph type="title"/>
          </p:nvPr>
        </p:nvSpPr>
        <p:spPr>
          <a:xfrm>
            <a:off x="375781" y="2999984"/>
            <a:ext cx="7002049" cy="295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上課方式 與 結訓產出 說明</a:t>
            </a:r>
            <a:endParaRPr b="1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上課方式 與 結訓產出 說明</a:t>
            </a:r>
            <a:endParaRPr/>
          </a:p>
        </p:txBody>
      </p:sp>
      <p:sp>
        <p:nvSpPr>
          <p:cNvPr id="234" name="Google Shape;234;p4"/>
          <p:cNvSpPr txBox="1"/>
          <p:nvPr>
            <p:ph idx="1" type="body"/>
          </p:nvPr>
        </p:nvSpPr>
        <p:spPr>
          <a:xfrm>
            <a:off x="1143000" y="1272988"/>
            <a:ext cx="9906000" cy="476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實體上課，有問題當場發問，不要抱著疑問回家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每次上課都有作業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作業可在最後一次上課時，進行發表</a:t>
            </a:r>
            <a:endParaRPr/>
          </a:p>
        </p:txBody>
      </p:sp>
      <p:sp>
        <p:nvSpPr>
          <p:cNvPr id="235" name="Google Shape;235;p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"/>
          <p:cNvPicPr preferRelativeResize="0"/>
          <p:nvPr>
            <p:ph idx="2" type="pic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241" name="Google Shape;241;p5"/>
          <p:cNvPicPr preferRelativeResize="0"/>
          <p:nvPr>
            <p:ph idx="3" type="pic"/>
          </p:nvPr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pic>
      <p:pic>
        <p:nvPicPr>
          <p:cNvPr id="242" name="Google Shape;242;p5"/>
          <p:cNvPicPr preferRelativeResize="0"/>
          <p:nvPr>
            <p:ph idx="4" type="pic"/>
          </p:nvPr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43" name="Google Shape;243;p5"/>
          <p:cNvSpPr txBox="1"/>
          <p:nvPr>
            <p:ph type="title"/>
          </p:nvPr>
        </p:nvSpPr>
        <p:spPr>
          <a:xfrm>
            <a:off x="375781" y="2999984"/>
            <a:ext cx="7002049" cy="295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語言特性與功能</a:t>
            </a:r>
            <a:endParaRPr b="1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語言特性與功能</a:t>
            </a:r>
            <a:endParaRPr/>
          </a:p>
        </p:txBody>
      </p:sp>
      <p:sp>
        <p:nvSpPr>
          <p:cNvPr id="249" name="Google Shape;249;p6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Python 語言：Python 是一種廣泛使用的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直譯式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、進階和通用的程式語言。Python支援多種程式設計範式，包括結構化、程序式、反射式、物件導向和函數式程式設計。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吉多·范羅蘇姆於1980年代後期開始研發Python，作為ABC語言的後繼者，於1991年首次釋出 Python 0.9.0。Python 2.0於 2000 年釋出並引入了新功能。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Python 3.0 於 2008年釋出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，它是該語言的主要修訂版，並非完全向下相容。</a:t>
            </a:r>
            <a:endParaRPr/>
          </a:p>
        </p:txBody>
      </p:sp>
      <p:sp>
        <p:nvSpPr>
          <p:cNvPr id="250" name="Google Shape;250;p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語言特性與功能</a:t>
            </a:r>
            <a:endParaRPr/>
          </a:p>
        </p:txBody>
      </p:sp>
      <p:sp>
        <p:nvSpPr>
          <p:cNvPr id="256" name="Google Shape;256;p7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Python的設計哲學，強調程式碼的可讀性和簡潔的語法，尤其是使用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空格縮排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來劃分程式碼塊。相比於C語言或Java，Python讓開發者能夠用更少的代碼表達想法。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Python直譯器本身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幾乎可以在所有的作業系統中執行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，它的官方直譯器CPython是用C語言編寫的。Python是一個由社群驅動的自由軟體，目前由Python軟體基金會管理。Python是最受歡迎的程式語言之一。</a:t>
            </a:r>
            <a:endParaRPr/>
          </a:p>
        </p:txBody>
      </p:sp>
      <p:sp>
        <p:nvSpPr>
          <p:cNvPr id="257" name="Google Shape;257;p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程式語言使用排行榜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https://www.tiobe.com/tiobe-index/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</p:txBody>
      </p:sp>
      <p:sp>
        <p:nvSpPr>
          <p:cNvPr id="264" name="Google Shape;264;p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176" y="1821305"/>
            <a:ext cx="10275753" cy="436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9"/>
          <p:cNvPicPr preferRelativeResize="0"/>
          <p:nvPr>
            <p:ph idx="2" type="pic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271" name="Google Shape;271;p9"/>
          <p:cNvPicPr preferRelativeResize="0"/>
          <p:nvPr>
            <p:ph idx="3" type="pic"/>
          </p:nvPr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pic>
      <p:pic>
        <p:nvPicPr>
          <p:cNvPr id="272" name="Google Shape;272;p9"/>
          <p:cNvPicPr preferRelativeResize="0"/>
          <p:nvPr>
            <p:ph idx="4" type="pic"/>
          </p:nvPr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73" name="Google Shape;273;p9"/>
          <p:cNvSpPr txBox="1"/>
          <p:nvPr>
            <p:ph type="title"/>
          </p:nvPr>
        </p:nvSpPr>
        <p:spPr>
          <a:xfrm>
            <a:off x="375781" y="2999984"/>
            <a:ext cx="7002049" cy="295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安裝 Python 開發工具</a:t>
            </a:r>
            <a:b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與 AI 輔助功能</a:t>
            </a:r>
            <a:endParaRPr b="1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Microsoft JhengHei"/>
              <a:buNone/>
            </a:pPr>
            <a:r>
              <a:rPr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安裝 Python</a:t>
            </a:r>
            <a:endParaRPr i="0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9" name="Google Shape;279;p10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範例頁尾文字</a:t>
            </a:r>
            <a:endParaRPr/>
          </a:p>
        </p:txBody>
      </p:sp>
      <p:sp>
        <p:nvSpPr>
          <p:cNvPr id="281" name="Google Shape;281;p1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287" name="Google Shape;287;p11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https://www.python.org/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</p:txBody>
      </p:sp>
      <p:sp>
        <p:nvSpPr>
          <p:cNvPr id="288" name="Google Shape;288;p1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0756" y="1821305"/>
            <a:ext cx="6732604" cy="490285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/>
          <p:nvPr/>
        </p:nvSpPr>
        <p:spPr>
          <a:xfrm>
            <a:off x="8220636" y="2501153"/>
            <a:ext cx="3191435" cy="2805953"/>
          </a:xfrm>
          <a:prstGeom prst="wedgeRoundRectCallout">
            <a:avLst>
              <a:gd fmla="val -186076" name="adj1"/>
              <a:gd fmla="val -37554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在此可以下載 Python 直譯器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包含各平台和各 Python 版本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Python 版號說明，如 3.13.7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代表大版，13 代表完成某些功能，7 為修改中的版本(可能有錯)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以長久而論，會安裝特定中間號碼，尾碼為最後之版(代表穩定版)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479" y="1779087"/>
            <a:ext cx="4557241" cy="2389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297" name="Google Shape;297;p12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https://www.python.org/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8" name="Google Shape;298;p1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2080297" y="4366151"/>
            <a:ext cx="3843603" cy="1542092"/>
          </a:xfrm>
          <a:prstGeom prst="wedgeRoundRectCallout">
            <a:avLst>
              <a:gd fmla="val 83291" name="adj1"/>
              <a:gd fmla="val -25365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找到 3.13.11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此為 13 版的最後一個版本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按下 Windows Installer(64-bit)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00" name="Google Shape;300;p12"/>
          <p:cNvCxnSpPr/>
          <p:nvPr/>
        </p:nvCxnSpPr>
        <p:spPr>
          <a:xfrm>
            <a:off x="3200400" y="2779059"/>
            <a:ext cx="3660799" cy="13178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01" name="Google Shape;3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052" y="3708337"/>
            <a:ext cx="5013179" cy="28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431" y="1821305"/>
            <a:ext cx="9659698" cy="2829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308" name="Google Shape;308;p13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https://www.python.org/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9" name="Google Shape;309;p1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5101403" y="4856786"/>
            <a:ext cx="3843603" cy="1803990"/>
          </a:xfrm>
          <a:prstGeom prst="wedgeRoundRectCallout">
            <a:avLst>
              <a:gd fmla="val -42424" name="adj1"/>
              <a:gd fmla="val -129424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首先，檢查電腦中，是否有安裝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不同版本之 Python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若有，先確認是否有其他程式會使用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若無影響，則將這些版本刪除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以免造成干擾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263" y="1883164"/>
            <a:ext cx="7601001" cy="469178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317" name="Google Shape;317;p14"/>
          <p:cNvSpPr txBox="1"/>
          <p:nvPr>
            <p:ph idx="1" type="body"/>
          </p:nvPr>
        </p:nvSpPr>
        <p:spPr>
          <a:xfrm>
            <a:off x="1143000" y="1011836"/>
            <a:ext cx="9906000" cy="502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https://www.python.org/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8" name="Google Shape;318;p1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967007" y="4714925"/>
            <a:ext cx="3036779" cy="1187151"/>
          </a:xfrm>
          <a:prstGeom prst="wedgeRoundRectCallout">
            <a:avLst>
              <a:gd fmla="val -89342" name="adj1"/>
              <a:gd fmla="val 79859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開始進行安裝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把路徑加到 PATH 中，會比較方便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3785817" y="3302667"/>
            <a:ext cx="4762619" cy="121518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692" y="1579122"/>
            <a:ext cx="4243263" cy="261919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327" name="Google Shape;327;p15"/>
          <p:cNvSpPr txBox="1"/>
          <p:nvPr>
            <p:ph idx="1" type="body"/>
          </p:nvPr>
        </p:nvSpPr>
        <p:spPr>
          <a:xfrm>
            <a:off x="1143000" y="905436"/>
            <a:ext cx="9906000" cy="5128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https://www.python.org/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8" name="Google Shape;328;p1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2372335" y="4571801"/>
            <a:ext cx="2756084" cy="694846"/>
          </a:xfrm>
          <a:prstGeom prst="wedgeRoundRectCallout">
            <a:avLst>
              <a:gd fmla="val -27963" name="adj1"/>
              <a:gd fmla="val -148135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就安裝預選的全部套件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30" name="Google Shape;3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0830" y="1595835"/>
            <a:ext cx="4100474" cy="253689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/>
          <p:nvPr/>
        </p:nvSpPr>
        <p:spPr>
          <a:xfrm>
            <a:off x="7846325" y="3056796"/>
            <a:ext cx="3004979" cy="67252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332" name="Google Shape;332;p15"/>
          <p:cNvCxnSpPr/>
          <p:nvPr/>
        </p:nvCxnSpPr>
        <p:spPr>
          <a:xfrm>
            <a:off x="5823447" y="2933759"/>
            <a:ext cx="900488" cy="2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3" name="Google Shape;333;p15"/>
          <p:cNvSpPr/>
          <p:nvPr/>
        </p:nvSpPr>
        <p:spPr>
          <a:xfrm>
            <a:off x="7970772" y="4288622"/>
            <a:ext cx="2756084" cy="1305068"/>
          </a:xfrm>
          <a:prstGeom prst="wedgeRoundRectCallout">
            <a:avLst>
              <a:gd fmla="val -26662" name="adj1"/>
              <a:gd fmla="val -97303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可以按下這個地方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解除長度限制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571" y="1666374"/>
            <a:ext cx="10041276" cy="290909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 txBox="1"/>
          <p:nvPr>
            <p:ph type="title"/>
          </p:nvPr>
        </p:nvSpPr>
        <p:spPr>
          <a:xfrm>
            <a:off x="1143000" y="283050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官網</a:t>
            </a:r>
            <a:endParaRPr/>
          </a:p>
        </p:txBody>
      </p:sp>
      <p:sp>
        <p:nvSpPr>
          <p:cNvPr id="340" name="Google Shape;340;p16"/>
          <p:cNvSpPr txBox="1"/>
          <p:nvPr>
            <p:ph idx="1" type="body"/>
          </p:nvPr>
        </p:nvSpPr>
        <p:spPr>
          <a:xfrm>
            <a:off x="1143000" y="905436"/>
            <a:ext cx="9906000" cy="5128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https://www.python.org/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1" name="Google Shape;341;p1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3948808" y="4575468"/>
            <a:ext cx="3843603" cy="1187151"/>
          </a:xfrm>
          <a:prstGeom prst="wedgeRoundRectCallout">
            <a:avLst>
              <a:gd fmla="val 20624" name="adj1"/>
              <a:gd fmla="val -140117" name="adj2"/>
              <a:gd fmla="val 16667" name="adj3"/>
            </a:avLst>
          </a:prstGeom>
          <a:gradFill>
            <a:gsLst>
              <a:gs pos="0">
                <a:srgbClr val="E4C0B7"/>
              </a:gs>
              <a:gs pos="50000">
                <a:srgbClr val="DFB4A9"/>
              </a:gs>
              <a:gs pos="100000">
                <a:srgbClr val="DCA89B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在控制台/應用程式中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已經安裝正確版本之 Python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Microsoft JhengHei"/>
              <a:buNone/>
            </a:pPr>
            <a:r>
              <a:rPr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安裝開發工具</a:t>
            </a:r>
            <a:endParaRPr/>
          </a:p>
        </p:txBody>
      </p:sp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None/>
            </a:pPr>
            <a:r>
              <a:rPr lang="zh-TW" sz="2800" cap="none">
                <a:latin typeface="Microsoft JhengHei"/>
                <a:ea typeface="Microsoft JhengHei"/>
                <a:cs typeface="Microsoft JhengHei"/>
                <a:sym typeface="Microsoft JhengHei"/>
              </a:rPr>
              <a:t>Google AntiGravity + 擴充套件</a:t>
            </a:r>
            <a:endParaRPr/>
          </a:p>
        </p:txBody>
      </p:sp>
      <p:sp>
        <p:nvSpPr>
          <p:cNvPr id="349" name="Google Shape;349;p17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範例頁尾文字</a:t>
            </a:r>
            <a:endParaRPr/>
          </a:p>
        </p:txBody>
      </p:sp>
      <p:sp>
        <p:nvSpPr>
          <p:cNvPr id="350" name="Google Shape;350;p1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title"/>
          </p:nvPr>
        </p:nvSpPr>
        <p:spPr>
          <a:xfrm>
            <a:off x="1143000" y="597989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安裝 Google Antigravity 👩‍💻</a:t>
            </a:r>
            <a:endParaRPr/>
          </a:p>
        </p:txBody>
      </p:sp>
      <p:sp>
        <p:nvSpPr>
          <p:cNvPr id="356" name="Google Shape;356;p18"/>
          <p:cNvSpPr txBox="1"/>
          <p:nvPr>
            <p:ph idx="1" type="body"/>
          </p:nvPr>
        </p:nvSpPr>
        <p:spPr>
          <a:xfrm>
            <a:off x="1014608" y="1407458"/>
            <a:ext cx="10720191" cy="521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Antigravity(AG) 為 Google 所推出的 AI 輔助程式碼編輯器，基於 MS VS Code，透過安裝擴充套件，我們可以讓它變成一個功能齊全的 Java IDE。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Antigravity : </a:t>
            </a:r>
            <a:r>
              <a:rPr lang="zh-TW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https://antigravity.google/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 Windows 或 Mac 版本，並進行安裝。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安裝核心套件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 AG。點擊左側的延伸模組 (Extensions) 圖示 (或按下 Ctrl+Shift+X)。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在搜尋框中輸入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Python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找到由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ms-python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發行的套件，點擊 Install。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這個套件包會自動幫你安裝好所有必要的擴充功能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7" name="Google Shape;357;p1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00113"/>
            <a:ext cx="9561778" cy="504273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9"/>
          <p:cNvSpPr txBox="1"/>
          <p:nvPr>
            <p:ph type="title"/>
          </p:nvPr>
        </p:nvSpPr>
        <p:spPr>
          <a:xfrm>
            <a:off x="1143000" y="597989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安裝 Python 擴充套件</a:t>
            </a:r>
            <a:endParaRPr/>
          </a:p>
        </p:txBody>
      </p:sp>
      <p:sp>
        <p:nvSpPr>
          <p:cNvPr id="364" name="Google Shape;364;p1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1143000" y="2393578"/>
            <a:ext cx="4226859" cy="48409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643281" y="1828801"/>
            <a:ext cx="3518647" cy="443120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0"/>
          <p:cNvPicPr preferRelativeResize="0"/>
          <p:nvPr>
            <p:ph idx="2" type="pic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372" name="Google Shape;372;p20"/>
          <p:cNvPicPr preferRelativeResize="0"/>
          <p:nvPr>
            <p:ph idx="3" type="pic"/>
          </p:nvPr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pic>
      <p:pic>
        <p:nvPicPr>
          <p:cNvPr id="373" name="Google Shape;373;p20"/>
          <p:cNvPicPr preferRelativeResize="0"/>
          <p:nvPr>
            <p:ph idx="4" type="pic"/>
          </p:nvPr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374" name="Google Shape;374;p20"/>
          <p:cNvSpPr txBox="1"/>
          <p:nvPr>
            <p:ph type="title"/>
          </p:nvPr>
        </p:nvSpPr>
        <p:spPr>
          <a:xfrm>
            <a:off x="375781" y="2999984"/>
            <a:ext cx="7002049" cy="295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建立第一個 Python 程式</a:t>
            </a:r>
            <a:endParaRPr b="1" cap="none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380" name="Google Shape;380;p21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打開資料夾(而不是只新增一個 .py 檔案)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檔案 -&gt; 開啟資料夾…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開啟已經存在的資料夾，或是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新增一個新的資料夾(如 D:\Project_Python\Python_20251219)</a:t>
            </a:r>
            <a:endParaRPr/>
          </a:p>
        </p:txBody>
      </p:sp>
      <p:sp>
        <p:nvSpPr>
          <p:cNvPr id="381" name="Google Shape;381;p2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82" name="Google Shape;3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179" y="3464513"/>
            <a:ext cx="5772921" cy="329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388" name="Google Shape;388;p22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2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 Python 解譯器(此步驟非常重要)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打開命令選擇區 (Command Palette)：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按下快速鍵 Ctrl+Shift+P (在 macOS 上是 Cmd+Shift+P)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搜尋並選取命令：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在跳出的輸入框中，輸入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Python: Select Interpreter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(通常打 python sel 就會出現)。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點擊該選項。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從列表中選擇：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 會自動偵測你電腦中所有已安裝的 Python 版本 (包括全域安裝、虛擬環境等) 並顯示一個列表。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從列表中選擇你想要使用的那一個。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通常會顯示路徑和版本號，例如 Python 3.12.10</a:t>
            </a:r>
            <a:endParaRPr/>
          </a:p>
        </p:txBody>
      </p:sp>
      <p:sp>
        <p:nvSpPr>
          <p:cNvPr id="389" name="Google Shape;389;p2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395" name="Google Shape;395;p23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2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 Python 解譯器(此步驟非常重要)</a:t>
            </a:r>
            <a:endParaRPr/>
          </a:p>
        </p:txBody>
      </p:sp>
      <p:sp>
        <p:nvSpPr>
          <p:cNvPr id="396" name="Google Shape;396;p2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97" name="Google Shape;3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6408" y="1973412"/>
            <a:ext cx="5801535" cy="4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/>
          <p:nvPr/>
        </p:nvSpPr>
        <p:spPr>
          <a:xfrm>
            <a:off x="1470212" y="5602941"/>
            <a:ext cx="6092888" cy="25101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457" y="3634093"/>
            <a:ext cx="9758283" cy="69126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4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405" name="Google Shape;405;p24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2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 Python 解譯器(此步驟非常重要)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 startAt="4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選擇完畢後，看一下 AG 視窗右下角的狀態列。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等一下新增一個 Py 檔後，你會看到你剛才選擇的 Python 版本號顯示在那裡。這表示 AG 已經準備好用這個版本的 Python 來工作了。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6" name="Google Shape;406;p2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7548046" y="3720900"/>
            <a:ext cx="1379386" cy="51764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413" name="Google Shape;413;p25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 Python 程式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建立一個新的 Python 檔案，例如 hello.py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複製以下程式：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"/>
              <a:buNone/>
            </a:pPr>
            <a:r>
              <a:t/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"/>
              <a:buNone/>
            </a:pPr>
            <a:r>
              <a:t/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"/>
              <a:buNone/>
            </a:pPr>
            <a:r>
              <a:t/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"/>
              <a:buNone/>
            </a:pPr>
            <a:r>
              <a:t/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4" name="Google Shape;414;p2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1999129" y="3048000"/>
            <a:ext cx="5907741" cy="1200329"/>
          </a:xfrm>
          <a:prstGeom prst="rect">
            <a:avLst/>
          </a:prstGeom>
          <a:solidFill>
            <a:srgbClr val="CFF3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import sys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print("Hello, VS Code!")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print(f"正在使用的 Python 解譯器路徑：{sys.executable}")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421" name="Google Shape;421;p26"/>
          <p:cNvSpPr txBox="1"/>
          <p:nvPr>
            <p:ph idx="1" type="body"/>
          </p:nvPr>
        </p:nvSpPr>
        <p:spPr>
          <a:xfrm>
            <a:off x="1014608" y="1228164"/>
            <a:ext cx="10720191" cy="5535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 Python 程式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執行方法 A：使用「執行」按鈕 (最推薦)在編輯器視窗的右上角，找到一個白色的「播放 (Play)」按鈕 (▶)。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點擊這個按鈕，AG 就會自動打開下方的「終端機 (Terminal)」面板，並使用你剛剛選擇的解譯器來執行目前的 Python 檔案。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執行方法 B：在檔案中按右鍵在 hello.py 的程式碼編輯區內按一下右鍵。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從選單中選擇 在終端機中執行 Python 檔案 (Run Python File in Terminal)。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執行方法 C：手動在終端機執行按下快速鍵 Ctrl+`  (反引號，在 Tab 鍵上方) 來打開 VS Code 內建的終端機。</a:t>
            </a:r>
            <a:b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你會發現終端機的前方可能已經自動啟動了你選擇的 Python 環境。手動輸入指令：python hello.py 然後按下 Enter。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2" name="Google Shape;422;p2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在 AG 中建立你的第一個專案</a:t>
            </a:r>
            <a:endParaRPr/>
          </a:p>
        </p:txBody>
      </p:sp>
      <p:sp>
        <p:nvSpPr>
          <p:cNvPr id="428" name="Google Shape;428;p27"/>
          <p:cNvSpPr txBox="1"/>
          <p:nvPr>
            <p:ph idx="1" type="body"/>
          </p:nvPr>
        </p:nvSpPr>
        <p:spPr>
          <a:xfrm>
            <a:off x="1014608" y="1326776"/>
            <a:ext cx="10720191" cy="543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Play"/>
              <a:buAutoNum type="arabicPeriod" startAt="3"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 Python 程式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9" name="Google Shape;429;p2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30" name="Google Shape;4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306912"/>
            <a:ext cx="10712769" cy="131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Microsoft JhengHei"/>
              <a:buNone/>
            </a:pPr>
            <a:r>
              <a:rPr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基本命令</a:t>
            </a:r>
            <a:endParaRPr/>
          </a:p>
        </p:txBody>
      </p:sp>
      <p:sp>
        <p:nvSpPr>
          <p:cNvPr id="436" name="Google Shape;436;p28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None/>
            </a:pPr>
            <a:r>
              <a:rPr lang="zh-TW" sz="2800" cap="none">
                <a:latin typeface="Microsoft JhengHei"/>
                <a:ea typeface="Microsoft JhengHei"/>
                <a:cs typeface="Microsoft JhengHei"/>
                <a:sym typeface="Microsoft JhengHei"/>
              </a:rPr>
              <a:t>註解，輸出與輸入</a:t>
            </a:r>
            <a:endParaRPr/>
          </a:p>
        </p:txBody>
      </p:sp>
      <p:sp>
        <p:nvSpPr>
          <p:cNvPr id="437" name="Google Shape;437;p28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範例頁尾文字</a:t>
            </a:r>
            <a:endParaRPr/>
          </a:p>
        </p:txBody>
      </p:sp>
      <p:sp>
        <p:nvSpPr>
          <p:cNvPr id="438" name="Google Shape;438;p2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/>
          <p:nvPr>
            <p:ph type="title"/>
          </p:nvPr>
        </p:nvSpPr>
        <p:spPr>
          <a:xfrm>
            <a:off x="1143000" y="418695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基本命令與程式</a:t>
            </a:r>
            <a:endParaRPr/>
          </a:p>
        </p:txBody>
      </p:sp>
      <p:sp>
        <p:nvSpPr>
          <p:cNvPr id="444" name="Google Shape;444;p2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1142999" y="1228164"/>
            <a:ext cx="6468035" cy="5447645"/>
          </a:xfrm>
          <a:prstGeom prst="rect">
            <a:avLst/>
          </a:prstGeom>
          <a:solidFill>
            <a:srgbClr val="BEE8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這是一個簡單的 Python 程式，讓電腦和你打招呼並玩個小遊戲！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使用變數儲存一些資訊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name = "初學者"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 = 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使用 print() 函數在螢幕上印出文字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print("嗨，歡迎來到 Python 的世界！")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print("這是一個非常適合新手學習的程式語言。")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print("我的名字是 AI 助手，很高興認識你！")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print("-" * 20)  # 印出分隔線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使用 input() 函數來接收你的輸入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your_name = input("請問你的名字是？ 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使用變數來儲存你的回答，並在印出時使用 f-string (格式化字串)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print(f"你好啊，{your_name}！")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玩個小猜謎遊戲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print("來玩個小遊戲吧！")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favorite_fruit = input("猜猜我最喜歡什麼水果？提示：它是紅色的，而且很甜。 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 使用條件判斷式 (if-else) 來檢查答案，這會是之後會學到的內容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if favorite_fruit.lower() == "蘋果":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print("猜對了！你真厲害！")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print(f"哈哈，你猜錯了！我最喜歡的水果是蘋果。")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print("期待你繼續學習更多 Python 酷炫的功能！")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Python 基本命令與程式</a:t>
            </a:r>
            <a:endParaRPr/>
          </a:p>
        </p:txBody>
      </p:sp>
      <p:sp>
        <p:nvSpPr>
          <p:cNvPr id="451" name="Google Shape;451;p30"/>
          <p:cNvSpPr txBox="1"/>
          <p:nvPr>
            <p:ph idx="1" type="body"/>
          </p:nvPr>
        </p:nvSpPr>
        <p:spPr>
          <a:xfrm>
            <a:off x="1143000" y="1011836"/>
            <a:ext cx="9906000" cy="5387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註解 (#): 程式碼中 # 符號後面的文字都是註解。它們不會被執行，主要用來解釋程式碼的功能，讓讀者更容易理解。快捷鍵：Ctrl+/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print(): 這個函數會在螢幕上顯示你想要的文字或變數內容。它就像是讓電腦「說話」。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input(): 這個函數會暫停程式，等待使用者輸入文字，並將輸入的內容儲存起來。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變數: 像是 name 或 your_name 這些就是變數。它們就像是小盒子，可以把資料（例如文字或數字）暫時存放在裡面，方便之後使用。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f-string: 這種寫法 (f"Hello, {name}!") 是一種很方便的方式，可以直接在字串中插入變數的值，讓文字內容更生動。</a:t>
            </a:r>
            <a:endParaRPr/>
          </a:p>
        </p:txBody>
      </p:sp>
      <p:sp>
        <p:nvSpPr>
          <p:cNvPr id="452" name="Google Shape;452;p3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"/>
          <p:cNvSpPr txBox="1"/>
          <p:nvPr>
            <p:ph type="title"/>
          </p:nvPr>
        </p:nvSpPr>
        <p:spPr>
          <a:xfrm>
            <a:off x="5146159" y="685800"/>
            <a:ext cx="6238688" cy="13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icrosoft JhengHei"/>
              <a:buNone/>
            </a:pPr>
            <a:r>
              <a:rPr b="1" lang="zh-TW" sz="4800">
                <a:latin typeface="Microsoft JhengHei"/>
                <a:ea typeface="Microsoft JhengHei"/>
                <a:cs typeface="Microsoft JhengHei"/>
                <a:sym typeface="Microsoft JhengHei"/>
              </a:rPr>
              <a:t>課程問題</a:t>
            </a:r>
            <a:endParaRPr/>
          </a:p>
        </p:txBody>
      </p:sp>
      <p:pic>
        <p:nvPicPr>
          <p:cNvPr id="458" name="Google Shape;458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444"/>
            <a:ext cx="4966447" cy="68463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459" name="Google Shape;459;p3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範例頁尾文字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0" name="Google Shape;460;p31"/>
          <p:cNvSpPr txBox="1"/>
          <p:nvPr>
            <p:ph idx="1" type="body"/>
          </p:nvPr>
        </p:nvSpPr>
        <p:spPr>
          <a:xfrm>
            <a:off x="5146158" y="2301949"/>
            <a:ext cx="6238687" cy="402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學而不思則罔 思而不學則殆</a:t>
            </a:r>
            <a:endParaRPr/>
          </a:p>
        </p:txBody>
      </p:sp>
      <p:sp>
        <p:nvSpPr>
          <p:cNvPr id="461" name="Google Shape;461;p3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課程問題</a:t>
            </a:r>
            <a:endParaRPr/>
          </a:p>
        </p:txBody>
      </p:sp>
      <p:sp>
        <p:nvSpPr>
          <p:cNvPr id="467" name="Google Shape;467;p32"/>
          <p:cNvSpPr txBox="1"/>
          <p:nvPr>
            <p:ph idx="1" type="body"/>
          </p:nvPr>
        </p:nvSpPr>
        <p:spPr>
          <a:xfrm>
            <a:off x="1143000" y="1075766"/>
            <a:ext cx="10387208" cy="550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自我介紹小程式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目標：讓學生運用所學的 print()、input() 和變數，建立一個簡單的自我介紹程式。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作業說明：請學生根據上面的範例程式碼，寫一個新的 Python 程式。這個程式需要做到以下幾點：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向使用者打招呼：程式一開始，先用 print() 函數印出一句歡迎或問候的話。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詢問個人資訊：使用 input() 函數，依序詢問使用者以下三項資訊：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2" marL="1371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姓名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2" marL="1371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一個興趣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2" marL="1371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最喜歡的動物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整理並印出介紹：將使用者輸入的資訊用 變數 儲存起來，然後用 print() 和 f-string，將這些資訊整理成一段完整的自我介紹。</a:t>
            </a:r>
            <a:endParaRPr/>
          </a:p>
        </p:txBody>
      </p:sp>
      <p:sp>
        <p:nvSpPr>
          <p:cNvPr id="468" name="Google Shape;468;p3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 cap="none">
                <a:latin typeface="Microsoft JhengHei"/>
                <a:ea typeface="Microsoft JhengHei"/>
                <a:cs typeface="Microsoft JhengHei"/>
                <a:sym typeface="Microsoft JhengHei"/>
              </a:rPr>
              <a:t>課程問題</a:t>
            </a:r>
            <a:endParaRPr/>
          </a:p>
        </p:txBody>
      </p:sp>
      <p:sp>
        <p:nvSpPr>
          <p:cNvPr id="474" name="Google Shape;474;p33"/>
          <p:cNvSpPr txBox="1"/>
          <p:nvPr>
            <p:ph idx="1" type="body"/>
          </p:nvPr>
        </p:nvSpPr>
        <p:spPr>
          <a:xfrm>
            <a:off x="1143000" y="1075766"/>
            <a:ext cx="10387208" cy="550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範例輸出參考：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528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</a:pPr>
            <a:r>
              <a:t/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528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</a:pPr>
            <a:r>
              <a:t/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528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</a:pPr>
            <a:r>
              <a:t/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提示：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不需要擔心程式碼的長度，只要能順利執行就好。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可以參考範例程式碼中 input() 和 print() 的用法。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記得使用 </a:t>
            </a:r>
            <a:r>
              <a:rPr lang="zh-TW"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f-string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(f"....{變數名稱}...") 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來把變數的值放進文字裡。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528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</a:pPr>
            <a:r>
              <a:t/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5" name="Google Shape;475;p3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1631577" y="1819835"/>
            <a:ext cx="10084812" cy="1477328"/>
          </a:xfrm>
          <a:prstGeom prst="rect">
            <a:avLst/>
          </a:prstGeom>
          <a:solidFill>
            <a:srgbClr val="BEE8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哈囉！請告訴我一些關於你的事情吧！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你的名字是？ </a:t>
            </a:r>
            <a:r>
              <a:rPr b="1" lang="zh-TW" sz="1800">
                <a:solidFill>
                  <a:srgbClr val="FF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小明</a:t>
            </a:r>
            <a:endParaRPr b="1" sz="1800">
              <a:solidFill>
                <a:srgbClr val="FF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你的一個興趣是？ </a:t>
            </a:r>
            <a:r>
              <a:rPr b="1" lang="zh-TW" sz="1800">
                <a:solidFill>
                  <a:srgbClr val="FF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玩電動</a:t>
            </a:r>
            <a:endParaRPr b="1" sz="1800">
              <a:solidFill>
                <a:srgbClr val="FF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你最喜歡的動物是？ </a:t>
            </a:r>
            <a:r>
              <a:rPr b="1" lang="zh-TW" sz="1800">
                <a:solidFill>
                  <a:srgbClr val="FF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狗</a:t>
            </a:r>
            <a:endParaRPr b="1" sz="1800">
              <a:solidFill>
                <a:srgbClr val="FF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太棒了！這是你的自我介紹： 我的名字是 </a:t>
            </a:r>
            <a:r>
              <a:rPr b="1"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小明</a:t>
            </a: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，我喜歡的興趣是 </a:t>
            </a:r>
            <a:r>
              <a:rPr b="1"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玩電動</a:t>
            </a: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，我最喜歡的動物是 </a:t>
            </a:r>
            <a:r>
              <a:rPr b="1"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狗</a:t>
            </a: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。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/>
          <p:cNvPicPr preferRelativeResize="0"/>
          <p:nvPr>
            <p:ph idx="2" type="pic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08292" y="3"/>
            <a:ext cx="8997356" cy="4581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482" name="Google Shape;482;p34"/>
          <p:cNvPicPr preferRelativeResize="0"/>
          <p:nvPr>
            <p:ph idx="3" type="pic"/>
          </p:nvPr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243070" y="883420"/>
            <a:ext cx="4948931" cy="5974580"/>
          </a:xfrm>
          <a:prstGeom prst="rect">
            <a:avLst/>
          </a:prstGeom>
          <a:solidFill>
            <a:srgbClr val="D5C3C5"/>
          </a:solidFill>
          <a:ln>
            <a:noFill/>
          </a:ln>
        </p:spPr>
      </p:pic>
      <p:pic>
        <p:nvPicPr>
          <p:cNvPr id="483" name="Google Shape;483;p34"/>
          <p:cNvPicPr preferRelativeResize="0"/>
          <p:nvPr>
            <p:ph idx="4" type="pic"/>
          </p:nvPr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234997" y="4574265"/>
            <a:ext cx="5074516" cy="229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484" name="Google Shape;484;p34"/>
          <p:cNvSpPr txBox="1"/>
          <p:nvPr>
            <p:ph type="title"/>
          </p:nvPr>
        </p:nvSpPr>
        <p:spPr>
          <a:xfrm>
            <a:off x="375781" y="3062614"/>
            <a:ext cx="7002049" cy="2890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lang="zh-TW">
                <a:latin typeface="Microsoft JhengHei"/>
                <a:ea typeface="Microsoft JhengHei"/>
                <a:cs typeface="Microsoft JhengHei"/>
                <a:sym typeface="Microsoft JhengHei"/>
              </a:rPr>
              <a:t>補充資料</a:t>
            </a:r>
            <a:br>
              <a:rPr b="1"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490" name="Google Shape;490;p35"/>
          <p:cNvSpPr txBox="1"/>
          <p:nvPr>
            <p:ph idx="1" type="body"/>
          </p:nvPr>
        </p:nvSpPr>
        <p:spPr>
          <a:xfrm>
            <a:off x="1143000" y="1011836"/>
            <a:ext cx="9906000" cy="5595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運算思維(Computational thinking，縮寫為CT)：計算思維是一種</a:t>
            </a:r>
            <a:r>
              <a:rPr b="1" lang="zh-TW" sz="2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思考能力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。運用計算和計算機科學的概念、方法、技術、和邏輯推理來</a:t>
            </a:r>
            <a:r>
              <a:rPr b="1" lang="zh-TW" sz="2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解決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各類領域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內的問題的一種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思考方法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0066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None/>
            </a:pPr>
            <a:r>
              <a:t/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運算思維為在 2006 年 3 月，由美國卡內基·梅隆大學計算機科學系主任周以真(Jeannette M. Wing)教授提出。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主要分成：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分解問題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模式識別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抽象化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演算法設計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等四大步驟組成，最後用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流程圖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進行整理。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1" name="Google Shape;491;p3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2" name="Google Shape;492;p35"/>
          <p:cNvSpPr/>
          <p:nvPr/>
        </p:nvSpPr>
        <p:spPr>
          <a:xfrm>
            <a:off x="1647172" y="2999984"/>
            <a:ext cx="2567835" cy="920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CECF"/>
              </a:gs>
              <a:gs pos="50000">
                <a:srgbClr val="D4C2C4"/>
              </a:gs>
              <a:gs pos="100000">
                <a:srgbClr val="CFBABC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日常生活的各方面</a:t>
            </a:r>
            <a:endParaRPr/>
          </a:p>
        </p:txBody>
      </p:sp>
      <p:sp>
        <p:nvSpPr>
          <p:cNvPr id="493" name="Google Shape;493;p35"/>
          <p:cNvSpPr/>
          <p:nvPr/>
        </p:nvSpPr>
        <p:spPr>
          <a:xfrm>
            <a:off x="8481165" y="2999984"/>
            <a:ext cx="2567835" cy="920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CECF"/>
              </a:gs>
              <a:gs pos="50000">
                <a:srgbClr val="D4C2C4"/>
              </a:gs>
              <a:gs pos="100000">
                <a:srgbClr val="CFBABC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計算機(電腦)的作法</a:t>
            </a: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5298248" y="2999984"/>
            <a:ext cx="2099675" cy="920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917E"/>
              </a:gs>
              <a:gs pos="50000">
                <a:srgbClr val="CF8169"/>
              </a:gs>
              <a:gs pos="100000">
                <a:srgbClr val="BD6F56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運算思維</a:t>
            </a:r>
            <a:endParaRPr/>
          </a:p>
        </p:txBody>
      </p:sp>
      <p:cxnSp>
        <p:nvCxnSpPr>
          <p:cNvPr id="495" name="Google Shape;495;p35"/>
          <p:cNvCxnSpPr>
            <a:stCxn id="492" idx="3"/>
            <a:endCxn id="494" idx="1"/>
          </p:cNvCxnSpPr>
          <p:nvPr/>
        </p:nvCxnSpPr>
        <p:spPr>
          <a:xfrm>
            <a:off x="4215007" y="3460316"/>
            <a:ext cx="10833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96" name="Google Shape;496;p35"/>
          <p:cNvCxnSpPr>
            <a:stCxn id="494" idx="3"/>
            <a:endCxn id="493" idx="1"/>
          </p:cNvCxnSpPr>
          <p:nvPr/>
        </p:nvCxnSpPr>
        <p:spPr>
          <a:xfrm>
            <a:off x="7397923" y="3460316"/>
            <a:ext cx="10833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02" name="Google Shape;502;p36"/>
          <p:cNvSpPr txBox="1"/>
          <p:nvPr>
            <p:ph idx="1" type="body"/>
          </p:nvPr>
        </p:nvSpPr>
        <p:spPr>
          <a:xfrm>
            <a:off x="1142999" y="1011837"/>
            <a:ext cx="10235281" cy="1386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分解問題：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將原來規模大、維度高的問題，拆分成規模較小、複雜度低的子問題。每個子問題通常會離終點更近。</a:t>
            </a:r>
            <a:endParaRPr/>
          </a:p>
        </p:txBody>
      </p:sp>
      <p:sp>
        <p:nvSpPr>
          <p:cNvPr id="503" name="Google Shape;503;p3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504" name="Google Shape;504;p36"/>
          <p:cNvGraphicFramePr/>
          <p:nvPr/>
        </p:nvGraphicFramePr>
        <p:xfrm>
          <a:off x="1205283" y="2671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{7F067E66-716C-400E-8304-24B8AB908FDC}</a:tableStyleId>
              </a:tblPr>
              <a:tblGrid>
                <a:gridCol w="693675"/>
                <a:gridCol w="693675"/>
                <a:gridCol w="693675"/>
                <a:gridCol w="693675"/>
                <a:gridCol w="693675"/>
                <a:gridCol w="693675"/>
              </a:tblGrid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/>
                        <a:t>S</a:t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/>
                        <a:t>1</a:t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E8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/>
                        <a:t>2</a:t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E8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/>
                        <a:t>E</a:t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5" name="Google Shape;505;p36"/>
          <p:cNvSpPr txBox="1"/>
          <p:nvPr/>
        </p:nvSpPr>
        <p:spPr>
          <a:xfrm>
            <a:off x="5661764" y="2548463"/>
            <a:ext cx="6225437" cy="403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 sz="2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左圖迷宮問問題：S -&gt; 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 sz="2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 S -&gt; 1(分歧點) 時，分成向下和向右兩個問題。</a:t>
            </a:r>
            <a:endParaRPr sz="2000">
              <a:solidFill>
                <a:schemeClr val="dk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zh-TW" sz="2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 1 的向右，遇到 2(分歧點)時，再分成向右和向上兩個問題。</a:t>
            </a:r>
            <a:endParaRPr sz="2000">
              <a:solidFill>
                <a:schemeClr val="dk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8442543" y="4267302"/>
            <a:ext cx="375780" cy="375780"/>
          </a:xfrm>
          <a:prstGeom prst="ellipse">
            <a:avLst/>
          </a:prstGeom>
          <a:solidFill>
            <a:srgbClr val="BEE8F2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7" name="Google Shape;507;p36"/>
          <p:cNvSpPr/>
          <p:nvPr/>
        </p:nvSpPr>
        <p:spPr>
          <a:xfrm>
            <a:off x="8442543" y="4897384"/>
            <a:ext cx="375780" cy="375780"/>
          </a:xfrm>
          <a:prstGeom prst="ellipse">
            <a:avLst/>
          </a:prstGeom>
          <a:solidFill>
            <a:srgbClr val="BEE8F2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1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9152352" y="5346628"/>
            <a:ext cx="375780" cy="375780"/>
          </a:xfrm>
          <a:prstGeom prst="ellipse">
            <a:avLst/>
          </a:prstGeom>
          <a:solidFill>
            <a:srgbClr val="BEE8F2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2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9826670" y="5850713"/>
            <a:ext cx="375780" cy="375780"/>
          </a:xfrm>
          <a:prstGeom prst="ellipse">
            <a:avLst/>
          </a:prstGeom>
          <a:solidFill>
            <a:srgbClr val="BEE8F2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7883047" y="5350905"/>
            <a:ext cx="375780" cy="375780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8574066" y="5850713"/>
            <a:ext cx="375780" cy="375780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0F3F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512" name="Google Shape;512;p36"/>
          <p:cNvCxnSpPr>
            <a:stCxn id="506" idx="4"/>
            <a:endCxn id="507" idx="0"/>
          </p:cNvCxnSpPr>
          <p:nvPr/>
        </p:nvCxnSpPr>
        <p:spPr>
          <a:xfrm>
            <a:off x="8630433" y="4643082"/>
            <a:ext cx="0" cy="254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3" name="Google Shape;513;p36"/>
          <p:cNvCxnSpPr>
            <a:stCxn id="507" idx="3"/>
            <a:endCxn id="510" idx="7"/>
          </p:cNvCxnSpPr>
          <p:nvPr/>
        </p:nvCxnSpPr>
        <p:spPr>
          <a:xfrm flipH="1">
            <a:off x="8203875" y="5218132"/>
            <a:ext cx="293700" cy="187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4" name="Google Shape;514;p36"/>
          <p:cNvCxnSpPr>
            <a:stCxn id="507" idx="5"/>
            <a:endCxn id="508" idx="1"/>
          </p:cNvCxnSpPr>
          <p:nvPr/>
        </p:nvCxnSpPr>
        <p:spPr>
          <a:xfrm>
            <a:off x="8763291" y="5218132"/>
            <a:ext cx="444000" cy="183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5" name="Google Shape;515;p36"/>
          <p:cNvCxnSpPr>
            <a:stCxn id="508" idx="3"/>
            <a:endCxn id="511" idx="7"/>
          </p:cNvCxnSpPr>
          <p:nvPr/>
        </p:nvCxnSpPr>
        <p:spPr>
          <a:xfrm flipH="1">
            <a:off x="8894784" y="5667376"/>
            <a:ext cx="312600" cy="23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36"/>
          <p:cNvCxnSpPr>
            <a:stCxn id="508" idx="5"/>
            <a:endCxn id="509" idx="1"/>
          </p:cNvCxnSpPr>
          <p:nvPr/>
        </p:nvCxnSpPr>
        <p:spPr>
          <a:xfrm>
            <a:off x="9473100" y="5667376"/>
            <a:ext cx="408600" cy="23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7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22" name="Google Shape;522;p37"/>
          <p:cNvSpPr txBox="1"/>
          <p:nvPr>
            <p:ph idx="1" type="body"/>
          </p:nvPr>
        </p:nvSpPr>
        <p:spPr>
          <a:xfrm>
            <a:off x="1014609" y="1011836"/>
            <a:ext cx="10587868" cy="561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ct val="8000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模式識別(Pattern Recognition)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：為觀察與探究的能力，藉由觀察問題的型態、趨勢、共通性與規律性，提出解決問題的方法。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例一：1+2+3…+99+100=?</a:t>
            </a:r>
            <a:b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高斯：1+100=101, 2+99=101…共50組，答:101x50=5050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例二：今天是星期六，那 100 天後是星期幾？</a:t>
            </a:r>
            <a:b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先 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分解問題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 =&gt;(星期一 -&gt; 星期日) / 7，餘數和星期的關係是？</a:t>
            </a:r>
            <a:b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因此，星期日的 100 天後 =&gt; 100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7 = 2(星期二)</a:t>
            </a:r>
            <a:b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那 星期六的 100 天後 =&gt; 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公式是？</a:t>
            </a:r>
            <a:r>
              <a:rPr b="1" lang="zh-TW" sz="2800" u="sng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(w + n) % 7 =&gt; 星期數</a:t>
            </a:r>
            <a:endParaRPr b="1" sz="2800" u="sng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80000"/>
              <a:buFont typeface="Arial"/>
              <a:buChar char="•"/>
            </a:pPr>
            <a:r>
              <a:rPr b="1" lang="zh-TW" sz="2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今天星期六，10</a:t>
            </a:r>
            <a:r>
              <a:rPr b="1" baseline="30000" lang="zh-TW" sz="2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100 </a:t>
            </a:r>
            <a:r>
              <a:rPr b="1" lang="zh-TW" sz="2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天後，是星期幾？</a:t>
            </a:r>
            <a:endParaRPr b="1" sz="2800">
              <a:solidFill>
                <a:srgbClr val="00B0F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3" name="Google Shape;523;p3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29" name="Google Shape;529;p38"/>
          <p:cNvSpPr txBox="1"/>
          <p:nvPr>
            <p:ph idx="1" type="body"/>
          </p:nvPr>
        </p:nvSpPr>
        <p:spPr>
          <a:xfrm>
            <a:off x="1014609" y="1011836"/>
            <a:ext cx="10587868" cy="5539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抽象化(Abstraction)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：利用模式識別得到的結果，找出一般性的通則，加上特定的資料型態與儲存用的變數，以便電腦能依據此來運算。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例： 1+2+3+…+99+100(特定值) =&gt; 1+2+3+…+n(通則)</a:t>
            </a:r>
            <a:b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sum=1+2+3+…+n=n*(n+1)/2  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sum=(上底+下底)*高/2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練習：試著抽象化 1+3+5+…+101 成為一個通則公式。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0" name="Google Shape;530;p3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9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36" name="Google Shape;536;p39"/>
          <p:cNvSpPr txBox="1"/>
          <p:nvPr>
            <p:ph idx="1" type="body"/>
          </p:nvPr>
        </p:nvSpPr>
        <p:spPr>
          <a:xfrm>
            <a:off x="1014609" y="1011836"/>
            <a:ext cx="10587868" cy="5539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演算法設計(Algorithm)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：演算法是一組在電腦上進行運算的過程，而每個步驟，即稱為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指令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。而一個完整的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，即由 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資料結構 + 演算法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 構成。(1976年Pascal語言發明人 Niklaus Wirth)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</a:pP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而不同的指令、資料結構、演算法命令，所結合成的集合，即稱為</a:t>
            </a: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程式語言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。以下為 TIOBE 2024 語言使用排行榜。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7" name="Google Shape;537;p3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442" y="4468281"/>
            <a:ext cx="9652494" cy="223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44" name="Google Shape;544;p40"/>
          <p:cNvSpPr txBox="1"/>
          <p:nvPr>
            <p:ph idx="1" type="body"/>
          </p:nvPr>
        </p:nvSpPr>
        <p:spPr>
          <a:xfrm>
            <a:off x="1014609" y="1011836"/>
            <a:ext cx="10587868" cy="1587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演算法範例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</a:pP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1+2+3+…+100=?</a:t>
            </a:r>
            <a:endParaRPr/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5" name="Google Shape;545;p4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6" name="Google Shape;546;p40"/>
          <p:cNvSpPr txBox="1"/>
          <p:nvPr/>
        </p:nvSpPr>
        <p:spPr>
          <a:xfrm>
            <a:off x="1509387" y="2599151"/>
            <a:ext cx="4459266" cy="3923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演算法一：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由使用者輸入 n，比如 100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設定變數 sum 與初始值 = 0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執行以下重複計算：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sum = sum + 1(or 2…)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zh-TW" sz="2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共加總 n 次，最後一次為 sum = sum + n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輸出(顯示) sum 的結果</a:t>
            </a:r>
            <a:endParaRPr/>
          </a:p>
        </p:txBody>
      </p:sp>
      <p:sp>
        <p:nvSpPr>
          <p:cNvPr id="547" name="Google Shape;547;p40"/>
          <p:cNvSpPr txBox="1"/>
          <p:nvPr/>
        </p:nvSpPr>
        <p:spPr>
          <a:xfrm>
            <a:off x="6045897" y="2526822"/>
            <a:ext cx="4459266" cy="2400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演算法二：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由使用者輸入 n，比如 100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設定變數 sum 與初始值 = 0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 sum = n(n+1)/2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輸出(顯示) sum 的結果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53" name="Google Shape;553;p41"/>
          <p:cNvSpPr txBox="1"/>
          <p:nvPr>
            <p:ph idx="1" type="body"/>
          </p:nvPr>
        </p:nvSpPr>
        <p:spPr>
          <a:xfrm>
            <a:off x="1014609" y="1011836"/>
            <a:ext cx="10587868" cy="54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演算法評估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：演算法的評估，主要為其所佔用的記憶體量(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空間複雜度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)，與所需要的時間(</a:t>
            </a: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時間複雜度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時間複雜度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的相關類型如下：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4" name="Google Shape;554;p4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55" name="Google Shape;55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019" y="3033334"/>
            <a:ext cx="5720936" cy="791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3019" y="3734501"/>
            <a:ext cx="6628003" cy="30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1"/>
          <p:cNvSpPr/>
          <p:nvPr/>
        </p:nvSpPr>
        <p:spPr>
          <a:xfrm>
            <a:off x="1506071" y="3173506"/>
            <a:ext cx="4137556" cy="65115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2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63" name="Google Shape;563;p42"/>
          <p:cNvSpPr txBox="1"/>
          <p:nvPr>
            <p:ph idx="1" type="body"/>
          </p:nvPr>
        </p:nvSpPr>
        <p:spPr>
          <a:xfrm>
            <a:off x="1014609" y="1011836"/>
            <a:ext cx="10587868" cy="54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流程圖(Flow Chart)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：用圖形的方式，表示演算法的流程。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Char char="•"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基本流程圖圖示：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4" name="Google Shape;564;p4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65" name="Google Shape;5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3241" y="1947797"/>
            <a:ext cx="3905459" cy="478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/>
          <p:nvPr>
            <p:ph type="title"/>
          </p:nvPr>
        </p:nvSpPr>
        <p:spPr>
          <a:xfrm>
            <a:off x="1143000" y="202367"/>
            <a:ext cx="9906000" cy="809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icrosoft JhengHei"/>
              <a:buNone/>
            </a:pPr>
            <a:r>
              <a:rPr b="1" i="0" lang="zh-TW">
                <a:latin typeface="Microsoft JhengHei"/>
                <a:ea typeface="Microsoft JhengHei"/>
                <a:cs typeface="Microsoft JhengHei"/>
                <a:sym typeface="Microsoft JhengHei"/>
              </a:rPr>
              <a:t>從 運算思維 到 程式設計</a:t>
            </a:r>
            <a:endParaRPr/>
          </a:p>
        </p:txBody>
      </p:sp>
      <p:sp>
        <p:nvSpPr>
          <p:cNvPr id="571" name="Google Shape;571;p43"/>
          <p:cNvSpPr txBox="1"/>
          <p:nvPr>
            <p:ph idx="1" type="body"/>
          </p:nvPr>
        </p:nvSpPr>
        <p:spPr>
          <a:xfrm>
            <a:off x="1014609" y="1011836"/>
            <a:ext cx="10587868" cy="54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AEFF"/>
              </a:buClr>
              <a:buSzPts val="2240"/>
              <a:buFont typeface="Arial"/>
              <a:buChar char="•"/>
            </a:pPr>
            <a:r>
              <a:rPr b="1" lang="zh-TW" sz="2800">
                <a:solidFill>
                  <a:srgbClr val="17AE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流程圖範例</a:t>
            </a: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：1+2+…100 的演算法一(迴圈方式)</a:t>
            </a:r>
            <a:endParaRPr/>
          </a:p>
          <a:p>
            <a:pPr indent="-3149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Arial"/>
              <a:buNone/>
            </a:pPr>
            <a:r>
              <a:t/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2" name="Google Shape;572;p4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73" name="Google Shape;5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0052" y="1741117"/>
            <a:ext cx="2818653" cy="4972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2021-02-08T04:45:48Z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